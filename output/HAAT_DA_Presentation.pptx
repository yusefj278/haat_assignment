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920000">
            <a:off x="-3657600" y="3840480"/>
            <a:ext cx="9144000" cy="9144000"/>
          </a:xfrm>
          <a:prstGeom prst="rect">
            <a:avLst/>
          </a:prstGeom>
          <a:solidFill>
            <a:srgbClr val="27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920000">
            <a:off x="-2926080" y="4480560"/>
            <a:ext cx="7315200" cy="73152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-1371600"/>
            <a:ext cx="5943600" cy="5943600"/>
          </a:xfrm>
          <a:prstGeom prst="ellipse">
            <a:avLst/>
          </a:prstGeom>
          <a:solidFill>
            <a:srgbClr val="27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0" y="-822960"/>
            <a:ext cx="4846320" cy="484632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5303520"/>
            <a:ext cx="822960" cy="8229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17320" y="548640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148840" y="5623560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1463040"/>
            <a:ext cx="79827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59E0B"/>
                </a:solidFill>
                <a:latin typeface="Arial"/>
              </a:rPr>
              <a:t>H A A T   D E L I V E R 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1938528"/>
            <a:ext cx="7982712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2029968"/>
            <a:ext cx="798271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5200" b="1" i="0">
                <a:solidFill>
                  <a:srgbClr val="F9FAFB"/>
                </a:solidFill>
                <a:latin typeface="Arial"/>
              </a:rPr>
              <a:t>ניתוח נתוני ביצועים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971800"/>
            <a:ext cx="79827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2600" b="0" i="0">
                <a:solidFill>
                  <a:srgbClr val="FCD34D"/>
                </a:solidFill>
                <a:latin typeface="Arial"/>
              </a:rPr>
              <a:t>פברואר – מאי 2024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03120" y="3566160"/>
            <a:ext cx="7982712" cy="50292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0" y="3694176"/>
            <a:ext cx="7982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0" i="0">
                <a:solidFill>
                  <a:srgbClr val="9CA3AF"/>
                </a:solidFill>
                <a:latin typeface="Arial"/>
              </a:rPr>
              <a:t>28,645 הזמנות   ·   11 אזורים   ·   918 שליחים   ·   4 חודשים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206240"/>
            <a:ext cx="7982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100" b="0" i="0">
                <a:solidFill>
                  <a:srgbClr val="374151"/>
                </a:solidFill>
                <a:latin typeface="Arial"/>
              </a:rPr>
              <a:t>ממצא מרכזי  ·  3 מספרים  ·  ממצא מפתיע  ·  לא הוסבר  ·  המלצה  ·  שאלה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55080"/>
            <a:ext cx="121889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391656"/>
            <a:ext cx="12188952" cy="466344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409944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900" b="0" i="0">
                <a:solidFill>
                  <a:srgbClr val="9CA3AF"/>
                </a:solidFill>
                <a:latin typeface="Arial"/>
              </a:rPr>
              <a:t>HAAT Delivery  ·  ניתוח נתונים 2024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0994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Arial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9844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9012"/>
            <a:ext cx="12188952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 i="0">
                <a:solidFill>
                  <a:srgbClr val="F59E0B"/>
                </a:solidFill>
                <a:latin typeface="Arial"/>
              </a:rPr>
              <a:t>שקופית   1 / 6  —  הממצא החשוב ביותר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789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600" b="1" i="0">
                <a:solidFill>
                  <a:srgbClr val="F9FAFB"/>
                </a:solidFill>
                <a:latin typeface="Arial"/>
              </a:rPr>
              <a:t>1 מתוך 3 הזמנות לא מגיעה ללקוח</a:t>
            </a:r>
          </a:p>
        </p:txBody>
      </p:sp>
      <p:sp>
        <p:nvSpPr>
          <p:cNvPr id="7" name="Oval 6"/>
          <p:cNvSpPr/>
          <p:nvPr/>
        </p:nvSpPr>
        <p:spPr>
          <a:xfrm>
            <a:off x="256032" y="347472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347472"/>
            <a:ext cx="74980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11827"/>
                </a:solidFill>
                <a:latin typeface="Arial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889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91656"/>
            <a:ext cx="12188952" cy="466344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409944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900" b="0" i="0">
                <a:solidFill>
                  <a:srgbClr val="9CA3AF"/>
                </a:solidFill>
                <a:latin typeface="Arial"/>
              </a:rPr>
              <a:t>HAAT Delivery  ·  ניתוח נתונים 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994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Arial"/>
              </a:rPr>
              <a:t>2 / 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481328"/>
            <a:ext cx="731520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545336"/>
            <a:ext cx="7315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50" b="1" i="1">
                <a:solidFill>
                  <a:srgbClr val="FCD34D"/>
                </a:solidFill>
                <a:latin typeface="Arial"/>
              </a:rPr>
              <a:t>❝  זו לא בעיה של ביקוש — זו בעיה של היצע שליחים  ❞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231136"/>
            <a:ext cx="3383280" cy="160020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231136"/>
            <a:ext cx="64008" cy="16002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368296"/>
            <a:ext cx="3163824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34D399"/>
                </a:solidFill>
                <a:latin typeface="Arial"/>
              </a:rPr>
              <a:t>66.1%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207258"/>
            <a:ext cx="2743200" cy="27432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271265"/>
            <a:ext cx="3163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1" i="0">
                <a:solidFill>
                  <a:srgbClr val="F9FAFB"/>
                </a:solidFill>
                <a:latin typeface="Arial"/>
              </a:rPr>
              <a:t>שיעור מסירה כולל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591306"/>
            <a:ext cx="3163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000" b="0" i="0">
                <a:solidFill>
                  <a:srgbClr val="9CA3AF"/>
                </a:solidFill>
                <a:latin typeface="Arial"/>
              </a:rPr>
              <a:t>18,929 הזמנות נמסרו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69080" y="2231136"/>
            <a:ext cx="3383280" cy="160020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69080" y="2231136"/>
            <a:ext cx="64008" cy="16002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78808" y="2368296"/>
            <a:ext cx="3163824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87171"/>
                </a:solidFill>
                <a:latin typeface="Arial"/>
              </a:rPr>
              <a:t>9,716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3207258"/>
            <a:ext cx="2743200" cy="27432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78808" y="3271265"/>
            <a:ext cx="3163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1" i="0">
                <a:solidFill>
                  <a:srgbClr val="F9FAFB"/>
                </a:solidFill>
                <a:latin typeface="Arial"/>
              </a:rPr>
              <a:t>הזמנות שלא נמסרו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78808" y="3591306"/>
            <a:ext cx="3163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000" b="0" i="0">
                <a:solidFill>
                  <a:srgbClr val="9CA3AF"/>
                </a:solidFill>
                <a:latin typeface="Arial"/>
              </a:rPr>
              <a:t>הסתיימו ללא מסירה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995928"/>
            <a:ext cx="6995160" cy="160020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995928"/>
            <a:ext cx="64008" cy="16002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4133088"/>
            <a:ext cx="6775704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B923C"/>
                </a:solidFill>
                <a:latin typeface="Arial"/>
              </a:rPr>
              <a:t>₪1,159,000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972050"/>
            <a:ext cx="6355080" cy="27432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5036058"/>
            <a:ext cx="67757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1" i="0">
                <a:solidFill>
                  <a:srgbClr val="F9FAFB"/>
                </a:solidFill>
                <a:latin typeface="Arial"/>
              </a:rPr>
              <a:t>פוטנציאל הכנסה שלא מומש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5356098"/>
            <a:ext cx="6775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000" b="0" i="0">
                <a:solidFill>
                  <a:srgbClr val="9CA3AF"/>
                </a:solidFill>
                <a:latin typeface="Arial"/>
              </a:rPr>
              <a:t>ב-18 שבועות בלבד  ·  AOV ₪119.44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54112" y="2231136"/>
            <a:ext cx="4069080" cy="3364992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54112" y="2231136"/>
            <a:ext cx="64008" cy="336499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82712" y="2395728"/>
            <a:ext cx="3721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50" b="1" i="0">
                <a:solidFill>
                  <a:srgbClr val="F59E0B"/>
                </a:solidFill>
                <a:latin typeface="Arial"/>
              </a:rPr>
              <a:t>ראיה: שבת vs ראשון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82712" y="2798064"/>
            <a:ext cx="3721608" cy="2286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82712" y="2926080"/>
            <a:ext cx="3721608" cy="2505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500"/>
              </a:spcBef>
            </a:pPr>
            <a:r>
              <a:rPr sz="1300" b="1">
                <a:solidFill>
                  <a:srgbClr val="F9FAFB"/>
                </a:solidFill>
                <a:latin typeface="Arial"/>
              </a:rPr>
              <a:t>שבת — יום שיא ביקוש</a:t>
            </a:r>
          </a:p>
          <a:p>
            <a:pPr algn="r" rtl="1">
              <a:spcBef>
                <a:spcPts val="500"/>
              </a:spcBef>
            </a:pPr>
            <a:r>
              <a:rPr sz="1200" b="0">
                <a:solidFill>
                  <a:srgbClr val="9CA3AF"/>
                </a:solidFill>
                <a:latin typeface="Arial"/>
              </a:rPr>
              <a:t>271 הזמנות ביום, מסירה 63.1% בלבד ↓</a:t>
            </a:r>
          </a:p>
          <a:p>
            <a:pPr algn="r" rtl="1">
              <a:spcBef>
                <a:spcPts val="500"/>
              </a:spcBef>
            </a:pPr>
            <a:r>
              <a:rPr sz="300" b="0">
                <a:solidFill>
                  <a:srgbClr val="F9FAFB"/>
                </a:solidFill>
                <a:latin typeface="Arial"/>
              </a:rPr>
              <a:t/>
            </a:r>
          </a:p>
          <a:p>
            <a:pPr algn="r" rtl="1">
              <a:spcBef>
                <a:spcPts val="500"/>
              </a:spcBef>
            </a:pPr>
            <a:r>
              <a:rPr sz="1300" b="1">
                <a:solidFill>
                  <a:srgbClr val="F9FAFB"/>
                </a:solidFill>
                <a:latin typeface="Arial"/>
              </a:rPr>
              <a:t>ראשון — ביקוש נמוך ב-19%</a:t>
            </a:r>
          </a:p>
          <a:p>
            <a:pPr algn="r" rtl="1">
              <a:spcBef>
                <a:spcPts val="500"/>
              </a:spcBef>
            </a:pPr>
            <a:r>
              <a:rPr sz="1200" b="0">
                <a:solidFill>
                  <a:srgbClr val="9CA3AF"/>
                </a:solidFill>
                <a:latin typeface="Arial"/>
              </a:rPr>
              <a:t>227 הזמנות ביום, מסירה 67.5% ↑</a:t>
            </a:r>
          </a:p>
          <a:p>
            <a:pPr algn="r" rtl="1">
              <a:spcBef>
                <a:spcPts val="500"/>
              </a:spcBef>
            </a:pPr>
            <a:r>
              <a:rPr sz="300" b="0">
                <a:solidFill>
                  <a:srgbClr val="F9FAFB"/>
                </a:solidFill>
                <a:latin typeface="Arial"/>
              </a:rPr>
              <a:t/>
            </a:r>
          </a:p>
          <a:p>
            <a:pPr algn="r" rtl="1">
              <a:spcBef>
                <a:spcPts val="500"/>
              </a:spcBef>
            </a:pPr>
            <a:r>
              <a:rPr sz="1250" b="1">
                <a:solidFill>
                  <a:srgbClr val="FCD34D"/>
                </a:solidFill>
                <a:latin typeface="Arial"/>
              </a:rPr>
              <a:t>כל 100 הזמנות נוספות</a:t>
            </a:r>
          </a:p>
          <a:p>
            <a:pPr algn="r" rtl="1">
              <a:spcBef>
                <a:spcPts val="500"/>
              </a:spcBef>
            </a:pPr>
            <a:r>
              <a:rPr sz="1250" b="1">
                <a:solidFill>
                  <a:srgbClr val="FCD34D"/>
                </a:solidFill>
                <a:latin typeface="Arial"/>
              </a:rPr>
              <a:t>= 4.4 מסירות שנאבדות</a:t>
            </a:r>
          </a:p>
          <a:p>
            <a:pPr algn="r" rtl="1">
              <a:spcBef>
                <a:spcPts val="500"/>
              </a:spcBef>
            </a:pPr>
            <a:r>
              <a:rPr sz="300" b="0">
                <a:solidFill>
                  <a:srgbClr val="F9FAFB"/>
                </a:solidFill>
                <a:latin typeface="Arial"/>
              </a:rPr>
              <a:t/>
            </a:r>
          </a:p>
          <a:p>
            <a:pPr algn="r" rtl="1">
              <a:spcBef>
                <a:spcPts val="500"/>
              </a:spcBef>
            </a:pPr>
            <a:r>
              <a:rPr sz="1200" b="1">
                <a:solidFill>
                  <a:srgbClr val="34D399"/>
                </a:solidFill>
                <a:latin typeface="Arial"/>
              </a:rPr>
              <a:t>כשאין שליחים — ההזמנות נופלות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9844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9012"/>
            <a:ext cx="12188952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 i="0">
                <a:solidFill>
                  <a:srgbClr val="F59E0B"/>
                </a:solidFill>
                <a:latin typeface="Arial"/>
              </a:rPr>
              <a:t>שקופית   2 / 6  —  שלושה מספרים שמספרים את הסיפור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789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600" b="1" i="0">
                <a:solidFill>
                  <a:srgbClr val="F9FAFB"/>
                </a:solidFill>
                <a:latin typeface="Arial"/>
              </a:rPr>
              <a:t>הנתונים מאחורי הממצא המרכזי</a:t>
            </a:r>
          </a:p>
        </p:txBody>
      </p:sp>
      <p:sp>
        <p:nvSpPr>
          <p:cNvPr id="7" name="Oval 6"/>
          <p:cNvSpPr/>
          <p:nvPr/>
        </p:nvSpPr>
        <p:spPr>
          <a:xfrm>
            <a:off x="256032" y="347472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347472"/>
            <a:ext cx="74980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11827"/>
                </a:solidFill>
                <a:latin typeface="Arial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889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91656"/>
            <a:ext cx="12188952" cy="466344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409944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900" b="0" i="0">
                <a:solidFill>
                  <a:srgbClr val="9CA3AF"/>
                </a:solidFill>
                <a:latin typeface="Arial"/>
              </a:rPr>
              <a:t>HAAT Delivery  ·  ניתוח נתונים 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994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Arial"/>
              </a:rPr>
              <a:t>3 / 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499616"/>
            <a:ext cx="3675887" cy="4782312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499616"/>
            <a:ext cx="64008" cy="478231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1627631"/>
            <a:ext cx="335584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34D399"/>
                </a:solidFill>
                <a:latin typeface="Arial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1975104"/>
            <a:ext cx="3493007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34D399"/>
                </a:solidFill>
                <a:latin typeface="Arial"/>
              </a:rPr>
              <a:t>66.1%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191256"/>
            <a:ext cx="3127247" cy="27432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3282696"/>
            <a:ext cx="3401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1" i="0">
                <a:solidFill>
                  <a:srgbClr val="F9FAFB"/>
                </a:solidFill>
                <a:latin typeface="Arial"/>
              </a:rPr>
              <a:t>שיעור מסירה כולל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85615"/>
            <a:ext cx="3127247" cy="27432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3877056"/>
            <a:ext cx="3355847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500"/>
              </a:spcBef>
            </a:pPr>
            <a:r>
              <a:rPr sz="1150" b="0">
                <a:solidFill>
                  <a:srgbClr val="9CA3AF"/>
                </a:solidFill>
                <a:latin typeface="Arial"/>
              </a:rPr>
              <a:t>9,716 הזמנות לא הגיעו</a:t>
            </a:r>
          </a:p>
          <a:p>
            <a:pPr algn="r" rtl="1">
              <a:spcBef>
                <a:spcPts val="500"/>
              </a:spcBef>
            </a:pPr>
            <a:r>
              <a:rPr sz="1150" b="0">
                <a:solidFill>
                  <a:srgbClr val="9CA3AF"/>
                </a:solidFill>
                <a:latin typeface="Arial"/>
              </a:rPr>
              <a:t>AOV ₪119.44</a:t>
            </a:r>
          </a:p>
          <a:p>
            <a:pPr algn="r" rtl="1">
              <a:spcBef>
                <a:spcPts val="500"/>
              </a:spcBef>
            </a:pPr>
            <a:r>
              <a:rPr sz="1150" b="0">
                <a:solidFill>
                  <a:srgbClr val="9CA3AF"/>
                </a:solidFill>
                <a:latin typeface="Arial"/>
              </a:rPr>
              <a:t>₪1.16M פוטנציאל שאבד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733288"/>
            <a:ext cx="3675887" cy="5486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5769864"/>
            <a:ext cx="3447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150" b="1" i="0">
                <a:solidFill>
                  <a:srgbClr val="111827"/>
                </a:solidFill>
                <a:latin typeface="Arial"/>
              </a:rPr>
              <a:t>📌  הבסיס לכל שאר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1499616"/>
            <a:ext cx="3675887" cy="4782312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60" y="1499616"/>
            <a:ext cx="64008" cy="478231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53128" y="1627631"/>
            <a:ext cx="335584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F87171"/>
                </a:solidFill>
                <a:latin typeface="Arial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1975104"/>
            <a:ext cx="3493007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F87171"/>
                </a:solidFill>
                <a:latin typeface="Arial"/>
              </a:rPr>
              <a:t>63.1%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26280" y="3191256"/>
            <a:ext cx="3127247" cy="27432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3282696"/>
            <a:ext cx="3401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1" i="0">
                <a:solidFill>
                  <a:srgbClr val="F9FAFB"/>
                </a:solidFill>
                <a:latin typeface="Arial"/>
              </a:rPr>
              <a:t>מסירה בשבת — יום השיא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26280" y="3785615"/>
            <a:ext cx="3127247" cy="27432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53128" y="3877056"/>
            <a:ext cx="3355847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500"/>
              </a:spcBef>
            </a:pPr>
            <a:r>
              <a:rPr sz="1150" b="0">
                <a:solidFill>
                  <a:srgbClr val="9CA3AF"/>
                </a:solidFill>
                <a:latin typeface="Arial"/>
              </a:rPr>
              <a:t>vs 67.5% בראשון</a:t>
            </a:r>
          </a:p>
          <a:p>
            <a:pPr algn="r" rtl="1">
              <a:spcBef>
                <a:spcPts val="500"/>
              </a:spcBef>
            </a:pPr>
            <a:r>
              <a:rPr sz="1150" b="0">
                <a:solidFill>
                  <a:srgbClr val="9CA3AF"/>
                </a:solidFill>
                <a:latin typeface="Arial"/>
              </a:rPr>
              <a:t>19% פחות הזמנות = מסירה טובה</a:t>
            </a:r>
          </a:p>
          <a:p>
            <a:pPr algn="r" rtl="1">
              <a:spcBef>
                <a:spcPts val="500"/>
              </a:spcBef>
            </a:pPr>
            <a:r>
              <a:rPr sz="1150" b="0">
                <a:solidFill>
                  <a:srgbClr val="9CA3AF"/>
                </a:solidFill>
                <a:latin typeface="Arial"/>
              </a:rPr>
              <a:t>כל 100 הזמנות → 4.4 מסירות פחות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51960" y="5733288"/>
            <a:ext cx="3675887" cy="54864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0" y="5769864"/>
            <a:ext cx="3447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150" b="1" i="0">
                <a:solidFill>
                  <a:srgbClr val="111827"/>
                </a:solidFill>
                <a:latin typeface="Arial"/>
              </a:rPr>
              <a:t>⚠  שיא ביקוש = שפל מסירה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38744" y="1499616"/>
            <a:ext cx="3675887" cy="4782312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38744" y="1499616"/>
            <a:ext cx="64008" cy="478231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39912" y="1627631"/>
            <a:ext cx="335584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FB923C"/>
                </a:solidFill>
                <a:latin typeface="Arial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0183" y="1975104"/>
            <a:ext cx="3493007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FB923C"/>
                </a:solidFill>
                <a:latin typeface="Arial"/>
              </a:rPr>
              <a:t>48.4%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13064" y="3191256"/>
            <a:ext cx="3127247" cy="27432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75904" y="3282696"/>
            <a:ext cx="3401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1" i="0">
                <a:solidFill>
                  <a:srgbClr val="F9FAFB"/>
                </a:solidFill>
                <a:latin typeface="Arial"/>
              </a:rPr>
              <a:t>מסירה 8–14 אפריל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13064" y="3785615"/>
            <a:ext cx="3127247" cy="27432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39912" y="3877056"/>
            <a:ext cx="3355847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500"/>
              </a:spcBef>
            </a:pPr>
            <a:r>
              <a:rPr sz="1150" b="0">
                <a:solidFill>
                  <a:srgbClr val="9CA3AF"/>
                </a:solidFill>
                <a:latin typeface="Arial"/>
              </a:rPr>
              <a:t>שפל מוחלט בכל 18 השבועות</a:t>
            </a:r>
          </a:p>
          <a:p>
            <a:pPr algn="r" rtl="1">
              <a:spcBef>
                <a:spcPts val="500"/>
              </a:spcBef>
            </a:pPr>
            <a:r>
              <a:rPr sz="1150" b="0">
                <a:solidFill>
                  <a:srgbClr val="9CA3AF"/>
                </a:solidFill>
                <a:latin typeface="Arial"/>
              </a:rPr>
              <a:t>הנפח דווקא עלה ב-15.4%</a:t>
            </a:r>
          </a:p>
          <a:p>
            <a:pPr algn="r" rtl="1">
              <a:spcBef>
                <a:spcPts val="500"/>
              </a:spcBef>
            </a:pPr>
            <a:r>
              <a:rPr sz="1150" b="0">
                <a:solidFill>
                  <a:srgbClr val="9CA3AF"/>
                </a:solidFill>
                <a:latin typeface="Arial"/>
              </a:rPr>
              <a:t>חופף לתקיפת איראן 13.4.24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38744" y="5733288"/>
            <a:ext cx="3675887" cy="54864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75904" y="5769864"/>
            <a:ext cx="34472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150" b="1" i="0">
                <a:solidFill>
                  <a:srgbClr val="111827"/>
                </a:solidFill>
                <a:latin typeface="Arial"/>
              </a:rPr>
              <a:t>🔴  מחייב חקירה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9844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9012"/>
            <a:ext cx="12188952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 i="0">
                <a:solidFill>
                  <a:srgbClr val="F59E0B"/>
                </a:solidFill>
                <a:latin typeface="Arial"/>
              </a:rPr>
              <a:t>שקופית   3 / 6  —  ממצא שהפתיע אותי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789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600" b="1" i="0">
                <a:solidFill>
                  <a:srgbClr val="F9FAFB"/>
                </a:solidFill>
                <a:latin typeface="Arial"/>
              </a:rPr>
              <a:t>לקוחות המזומן — לא מי שחשבנו</a:t>
            </a:r>
          </a:p>
        </p:txBody>
      </p:sp>
      <p:sp>
        <p:nvSpPr>
          <p:cNvPr id="7" name="Oval 6"/>
          <p:cNvSpPr/>
          <p:nvPr/>
        </p:nvSpPr>
        <p:spPr>
          <a:xfrm>
            <a:off x="256032" y="347472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347472"/>
            <a:ext cx="74980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11827"/>
                </a:solidFill>
                <a:latin typeface="Arial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889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91656"/>
            <a:ext cx="12188952" cy="466344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409944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900" b="0" i="0">
                <a:solidFill>
                  <a:srgbClr val="9CA3AF"/>
                </a:solidFill>
                <a:latin typeface="Arial"/>
              </a:rPr>
              <a:t>HAAT Delivery  ·  ניתוח נתונים 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994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Arial"/>
              </a:rPr>
              <a:t>4 /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591056"/>
            <a:ext cx="5577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200" b="1" i="0">
                <a:solidFill>
                  <a:srgbClr val="F59E0B"/>
                </a:solidFill>
                <a:latin typeface="Arial"/>
              </a:rPr>
              <a:t>57.6%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73552"/>
            <a:ext cx="50292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364991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700" b="1" i="0">
                <a:solidFill>
                  <a:srgbClr val="F9FAFB"/>
                </a:solidFill>
                <a:latin typeface="Arial"/>
              </a:rPr>
              <a:t>מלקוחות המזומן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803904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400" b="0" i="0">
                <a:solidFill>
                  <a:srgbClr val="9CA3AF"/>
                </a:solidFill>
                <a:latin typeface="Arial"/>
              </a:rPr>
              <a:t>רשמו כרטיס אשראי — ובחרו לשלם מזומן בכל זאת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4379976"/>
            <a:ext cx="3931920" cy="640080"/>
          </a:xfrm>
          <a:prstGeom prst="rect">
            <a:avLst/>
          </a:prstGeom>
          <a:solidFill>
            <a:srgbClr val="27354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443984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400" b="1" i="0">
                <a:solidFill>
                  <a:srgbClr val="FCD34D"/>
                </a:solidFill>
                <a:latin typeface="Arial"/>
              </a:rPr>
              <a:t>= 9,190 לקוחות מוכנים להמרה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91072" y="1499616"/>
            <a:ext cx="5532120" cy="4782312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91072" y="1499616"/>
            <a:ext cx="64008" cy="478231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1664207"/>
            <a:ext cx="5184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50" b="1" i="0">
                <a:solidFill>
                  <a:srgbClr val="FCD34D"/>
                </a:solidFill>
                <a:latin typeface="Arial"/>
              </a:rPr>
              <a:t>מה זה אומר?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19672" y="2066543"/>
            <a:ext cx="5184648" cy="2286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9672" y="2194560"/>
            <a:ext cx="5184648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500"/>
              </a:spcBef>
            </a:pPr>
            <a:r>
              <a:rPr sz="1350" b="1">
                <a:solidFill>
                  <a:srgbClr val="F9FAFB"/>
                </a:solidFill>
                <a:latin typeface="Arial"/>
              </a:rPr>
              <a:t>הם כבר סומכים על HAAT ✓</a:t>
            </a:r>
          </a:p>
          <a:p>
            <a:pPr algn="r" rtl="1">
              <a:spcBef>
                <a:spcPts val="500"/>
              </a:spcBef>
            </a:pPr>
            <a:r>
              <a:rPr sz="1250" b="0">
                <a:solidFill>
                  <a:srgbClr val="9CA3AF"/>
                </a:solidFill>
                <a:latin typeface="Arial"/>
              </a:rPr>
              <a:t>רשמו כרטיס = מחויבות גבוהה</a:t>
            </a:r>
          </a:p>
          <a:p>
            <a:pPr algn="r" rtl="1">
              <a:spcBef>
                <a:spcPts val="500"/>
              </a:spcBef>
            </a:pPr>
            <a:r>
              <a:rPr sz="400" b="0">
                <a:solidFill>
                  <a:srgbClr val="F9FAFB"/>
                </a:solidFill>
                <a:latin typeface="Arial"/>
              </a:rPr>
              <a:t/>
            </a:r>
          </a:p>
          <a:p>
            <a:pPr algn="r" rtl="1">
              <a:spcBef>
                <a:spcPts val="500"/>
              </a:spcBef>
            </a:pPr>
            <a:r>
              <a:rPr sz="1350" b="1">
                <a:solidFill>
                  <a:srgbClr val="F9FAFB"/>
                </a:solidFill>
                <a:latin typeface="Arial"/>
              </a:rPr>
              <a:t>הם בוחרים מזומן בגלל:</a:t>
            </a:r>
          </a:p>
          <a:p>
            <a:pPr algn="r" rtl="1">
              <a:spcBef>
                <a:spcPts val="500"/>
              </a:spcBef>
            </a:pPr>
            <a:r>
              <a:rPr sz="1250" b="0">
                <a:solidFill>
                  <a:srgbClr val="9CA3AF"/>
                </a:solidFill>
                <a:latin typeface="Arial"/>
              </a:rPr>
              <a:t>→  הרגל / פרטיות / חוסר תמריץ</a:t>
            </a:r>
          </a:p>
          <a:p>
            <a:pPr algn="r" rtl="1">
              <a:spcBef>
                <a:spcPts val="500"/>
              </a:spcBef>
            </a:pPr>
            <a:r>
              <a:rPr sz="400" b="0">
                <a:solidFill>
                  <a:srgbClr val="F9FAFB"/>
                </a:solidFill>
                <a:latin typeface="Arial"/>
              </a:rPr>
              <a:t/>
            </a:r>
          </a:p>
          <a:p>
            <a:pPr algn="r" rtl="1">
              <a:spcBef>
                <a:spcPts val="500"/>
              </a:spcBef>
            </a:pPr>
            <a:r>
              <a:rPr sz="1350" b="1">
                <a:solidFill>
                  <a:srgbClr val="FCD34D"/>
                </a:solidFill>
                <a:latin typeface="Arial"/>
              </a:rPr>
              <a:t>מה ניתן לעשות?</a:t>
            </a:r>
          </a:p>
          <a:p>
            <a:pPr algn="r" rtl="1">
              <a:spcBef>
                <a:spcPts val="500"/>
              </a:spcBef>
            </a:pPr>
            <a:r>
              <a:rPr sz="1250" b="0">
                <a:solidFill>
                  <a:srgbClr val="F9FAFB"/>
                </a:solidFill>
                <a:latin typeface="Arial"/>
              </a:rPr>
              <a:t>→  קמפיין קאשבק 5% על תשלום ראשון</a:t>
            </a:r>
          </a:p>
          <a:p>
            <a:pPr algn="r" rtl="1">
              <a:spcBef>
                <a:spcPts val="500"/>
              </a:spcBef>
            </a:pPr>
            <a:r>
              <a:rPr sz="1250" b="0">
                <a:solidFill>
                  <a:srgbClr val="F9FAFB"/>
                </a:solidFill>
                <a:latin typeface="Arial"/>
              </a:rPr>
              <a:t>→  הנחה בהזמנה הבאה בכרטיס</a:t>
            </a:r>
          </a:p>
          <a:p>
            <a:pPr algn="r" rtl="1">
              <a:spcBef>
                <a:spcPts val="500"/>
              </a:spcBef>
            </a:pPr>
            <a:r>
              <a:rPr sz="1250" b="0">
                <a:solidFill>
                  <a:srgbClr val="F9FAFB"/>
                </a:solidFill>
                <a:latin typeface="Arial"/>
              </a:rPr>
              <a:t>→  תכנית נאמנות מבוססת אשראי</a:t>
            </a:r>
          </a:p>
          <a:p>
            <a:pPr algn="r" rtl="1">
              <a:spcBef>
                <a:spcPts val="500"/>
              </a:spcBef>
            </a:pPr>
            <a:r>
              <a:rPr sz="400" b="0">
                <a:solidFill>
                  <a:srgbClr val="F9FAFB"/>
                </a:solidFill>
                <a:latin typeface="Arial"/>
              </a:rPr>
              <a:t/>
            </a:r>
          </a:p>
          <a:p>
            <a:pPr algn="r" rtl="1">
              <a:spcBef>
                <a:spcPts val="500"/>
              </a:spcBef>
            </a:pPr>
            <a:r>
              <a:rPr sz="1250" b="1">
                <a:solidFill>
                  <a:srgbClr val="34D399"/>
                </a:solidFill>
                <a:latin typeface="Arial"/>
              </a:rPr>
              <a:t>הסגמנט הקל ביותר להמרה —</a:t>
            </a:r>
          </a:p>
          <a:p>
            <a:pPr algn="r" rtl="1">
              <a:spcBef>
                <a:spcPts val="500"/>
              </a:spcBef>
            </a:pPr>
            <a:r>
              <a:rPr sz="1250" b="1">
                <a:solidFill>
                  <a:srgbClr val="34D399"/>
                </a:solidFill>
                <a:latin typeface="Arial"/>
              </a:rPr>
              <a:t>הוא כבר קיים, רק צריך תמריץ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9844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9012"/>
            <a:ext cx="12188952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 i="0">
                <a:solidFill>
                  <a:srgbClr val="F59E0B"/>
                </a:solidFill>
                <a:latin typeface="Arial"/>
              </a:rPr>
              <a:t>שקופית   4 / 6  —  מה שלא הצלחתי להסביר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789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600" b="1" i="0">
                <a:solidFill>
                  <a:srgbClr val="F9FAFB"/>
                </a:solidFill>
                <a:latin typeface="Arial"/>
              </a:rPr>
              <a:t>נפח עלה 15% — אבל המסירה קרסה ל-48.4%</a:t>
            </a:r>
          </a:p>
        </p:txBody>
      </p:sp>
      <p:sp>
        <p:nvSpPr>
          <p:cNvPr id="7" name="Oval 6"/>
          <p:cNvSpPr/>
          <p:nvPr/>
        </p:nvSpPr>
        <p:spPr>
          <a:xfrm>
            <a:off x="256032" y="347472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347472"/>
            <a:ext cx="74980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11827"/>
                </a:solidFill>
                <a:latin typeface="Arial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889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91656"/>
            <a:ext cx="12188952" cy="466344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409944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900" b="0" i="0">
                <a:solidFill>
                  <a:srgbClr val="9CA3AF"/>
                </a:solidFill>
                <a:latin typeface="Arial"/>
              </a:rPr>
              <a:t>HAAT Delivery  ·  ניתוח נתונים 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994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Arial"/>
              </a:rPr>
              <a:t>5 /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499616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 i="0">
                <a:solidFill>
                  <a:srgbClr val="FB923C"/>
                </a:solidFill>
                <a:latin typeface="Arial"/>
              </a:rPr>
              <a:t>שבוע 8–14 אפריל 2024: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75104"/>
            <a:ext cx="9491472" cy="475488"/>
          </a:xfrm>
          <a:prstGeom prst="rect">
            <a:avLst/>
          </a:prstGeom>
          <a:solidFill>
            <a:srgbClr val="27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011680"/>
            <a:ext cx="2724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59E0B"/>
                </a:solidFill>
                <a:latin typeface="Arial"/>
              </a:rPr>
              <a:t>שבוע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8144" y="2011680"/>
            <a:ext cx="1581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59E0B"/>
                </a:solidFill>
                <a:latin typeface="Arial"/>
              </a:rPr>
              <a:t>הזמנות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011680"/>
            <a:ext cx="1490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59E0B"/>
                </a:solidFill>
                <a:latin typeface="Arial"/>
              </a:rPr>
              <a:t>שינוי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85432" y="2011680"/>
            <a:ext cx="1307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59E0B"/>
                </a:solidFill>
                <a:latin typeface="Arial"/>
              </a:rPr>
              <a:t>מסירה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011680"/>
            <a:ext cx="13990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59E0B"/>
                </a:solidFill>
                <a:latin typeface="Arial"/>
              </a:rPr>
              <a:t>מצב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505456"/>
            <a:ext cx="9491472" cy="5486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2606040"/>
            <a:ext cx="2724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50" b="0" i="0">
                <a:solidFill>
                  <a:srgbClr val="F9FAFB"/>
                </a:solidFill>
                <a:latin typeface="Arial"/>
              </a:rPr>
              <a:t>01–07 אפריל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8144" y="2606040"/>
            <a:ext cx="1581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50" b="0" i="0">
                <a:solidFill>
                  <a:srgbClr val="9CA3AF"/>
                </a:solidFill>
                <a:latin typeface="Arial"/>
              </a:rPr>
              <a:t>1,363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2606040"/>
            <a:ext cx="1490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50" b="0" i="0">
                <a:solidFill>
                  <a:srgbClr val="9CA3AF"/>
                </a:solidFill>
                <a:latin typeface="Arial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5432" y="2606040"/>
            <a:ext cx="1307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50" b="0" i="0">
                <a:solidFill>
                  <a:srgbClr val="9CA3AF"/>
                </a:solidFill>
                <a:latin typeface="Arial"/>
              </a:rPr>
              <a:t>62.1%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2606040"/>
            <a:ext cx="13990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50" b="0" i="0">
                <a:solidFill>
                  <a:srgbClr val="9CA3AF"/>
                </a:solidFill>
                <a:latin typeface="Arial"/>
              </a:rPr>
              <a:t>🟡 תקין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099816"/>
            <a:ext cx="9491472" cy="548640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099816"/>
            <a:ext cx="64008" cy="54864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3200400"/>
            <a:ext cx="2724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50" b="1" i="0">
                <a:solidFill>
                  <a:srgbClr val="F87171"/>
                </a:solidFill>
                <a:latin typeface="Arial"/>
              </a:rPr>
              <a:t>08–14 אפריל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38144" y="3200400"/>
            <a:ext cx="1581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50" b="1" i="0">
                <a:solidFill>
                  <a:srgbClr val="F9FAFB"/>
                </a:solidFill>
                <a:latin typeface="Arial"/>
              </a:rPr>
              <a:t>1,573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3200400"/>
            <a:ext cx="1490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50" b="1" i="0">
                <a:solidFill>
                  <a:srgbClr val="FB923C"/>
                </a:solidFill>
                <a:latin typeface="Arial"/>
              </a:rPr>
              <a:t>+15.4% 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85432" y="3200400"/>
            <a:ext cx="1307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50" b="1" i="0">
                <a:solidFill>
                  <a:srgbClr val="F87171"/>
                </a:solidFill>
                <a:latin typeface="Arial"/>
              </a:rPr>
              <a:t>48.4% 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3200400"/>
            <a:ext cx="13990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50" b="1" i="0">
                <a:solidFill>
                  <a:srgbClr val="F87171"/>
                </a:solidFill>
                <a:latin typeface="Arial"/>
              </a:rPr>
              <a:t>🔴 משבר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694176"/>
            <a:ext cx="9491472" cy="5486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3794760"/>
            <a:ext cx="2724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50" b="0" i="0">
                <a:solidFill>
                  <a:srgbClr val="F9FAFB"/>
                </a:solidFill>
                <a:latin typeface="Arial"/>
              </a:rPr>
              <a:t>15–21 אפריל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38144" y="3794760"/>
            <a:ext cx="1581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50" b="0" i="0">
                <a:solidFill>
                  <a:srgbClr val="9CA3AF"/>
                </a:solidFill>
                <a:latin typeface="Arial"/>
              </a:rPr>
              <a:t>1,987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3794760"/>
            <a:ext cx="1490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50" b="0" i="0">
                <a:solidFill>
                  <a:srgbClr val="9CA3AF"/>
                </a:solidFill>
                <a:latin typeface="Arial"/>
              </a:rPr>
              <a:t>+26.3% 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85432" y="3794760"/>
            <a:ext cx="1307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50" b="0" i="0">
                <a:solidFill>
                  <a:srgbClr val="34D399"/>
                </a:solidFill>
                <a:latin typeface="Arial"/>
              </a:rPr>
              <a:t>67.4%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94192" y="3794760"/>
            <a:ext cx="13990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50" b="0" i="0">
                <a:solidFill>
                  <a:srgbClr val="34D399"/>
                </a:solidFill>
                <a:latin typeface="Arial"/>
              </a:rPr>
              <a:t>🟢 חזרה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379976"/>
            <a:ext cx="9491472" cy="640080"/>
          </a:xfrm>
          <a:prstGeom prst="rect">
            <a:avLst/>
          </a:prstGeom>
          <a:solidFill>
            <a:srgbClr val="27354A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4425696"/>
            <a:ext cx="92171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>
                <a:solidFill>
                  <a:srgbClr val="FB923C"/>
                </a:solidFill>
                <a:latin typeface="Arial"/>
              </a:rPr>
              <a:t>13 אפריל 2024 — תקיפת טילים ומל"טים מאיראן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4700016"/>
            <a:ext cx="9217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9CA3AF"/>
                </a:solidFill>
                <a:latin typeface="Arial"/>
              </a:rPr>
              <a:t>שליחים בחרו שלא לצאת → עלייה בביקוש + קריסה בהיצע = 48.4%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12680" y="1499616"/>
            <a:ext cx="1828800" cy="4782312"/>
          </a:xfrm>
          <a:prstGeom prst="rect">
            <a:avLst/>
          </a:prstGeom>
          <a:solidFill>
            <a:srgbClr val="27354A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012680" y="1499616"/>
            <a:ext cx="64008" cy="478231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41280" y="1664207"/>
            <a:ext cx="1481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50" b="1" i="0">
                <a:solidFill>
                  <a:srgbClr val="FB923C"/>
                </a:solidFill>
                <a:latin typeface="Arial"/>
              </a:rPr>
              <a:t>מה חסר?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241280" y="2066543"/>
            <a:ext cx="1481328" cy="2286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241280" y="2194560"/>
            <a:ext cx="1481328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500"/>
              </a:spcBef>
            </a:pPr>
            <a:r>
              <a:rPr sz="1100" b="0">
                <a:solidFill>
                  <a:srgbClr val="F9FAFB"/>
                </a:solidFill>
                <a:latin typeface="Arial"/>
              </a:rPr>
              <a:t>לוגי פעילות שליחים</a:t>
            </a:r>
          </a:p>
          <a:p>
            <a:pPr algn="r" rtl="1">
              <a:spcBef>
                <a:spcPts val="500"/>
              </a:spcBef>
            </a:pPr>
            <a:r>
              <a:rPr sz="1050" b="0">
                <a:solidFill>
                  <a:srgbClr val="9CA3AF"/>
                </a:solidFill>
                <a:latin typeface="Arial"/>
              </a:rPr>
              <a:t>כמה היו online?</a:t>
            </a:r>
          </a:p>
          <a:p>
            <a:pPr algn="r" rtl="1">
              <a:spcBef>
                <a:spcPts val="500"/>
              </a:spcBef>
            </a:pPr>
            <a:r>
              <a:rPr sz="300" b="0">
                <a:solidFill>
                  <a:srgbClr val="F9FAFB"/>
                </a:solidFill>
                <a:latin typeface="Arial"/>
              </a:rPr>
              <a:t/>
            </a:r>
          </a:p>
          <a:p>
            <a:pPr algn="r" rtl="1">
              <a:spcBef>
                <a:spcPts val="500"/>
              </a:spcBef>
            </a:pPr>
            <a:r>
              <a:rPr sz="1100" b="0">
                <a:solidFill>
                  <a:srgbClr val="F9FAFB"/>
                </a:solidFill>
                <a:latin typeface="Arial"/>
              </a:rPr>
              <a:t>גיאוגרפיה של הכשלים</a:t>
            </a:r>
          </a:p>
          <a:p>
            <a:pPr algn="r" rtl="1">
              <a:spcBef>
                <a:spcPts val="500"/>
              </a:spcBef>
            </a:pPr>
            <a:r>
              <a:rPr sz="300" b="0">
                <a:solidFill>
                  <a:srgbClr val="F9FAFB"/>
                </a:solidFill>
                <a:latin typeface="Arial"/>
              </a:rPr>
              <a:t/>
            </a:r>
          </a:p>
          <a:p>
            <a:pPr algn="r" rtl="1">
              <a:spcBef>
                <a:spcPts val="500"/>
              </a:spcBef>
            </a:pPr>
            <a:r>
              <a:rPr sz="1100" b="1">
                <a:solidFill>
                  <a:srgbClr val="FB923C"/>
                </a:solidFill>
                <a:latin typeface="Arial"/>
              </a:rPr>
              <a:t>תוכנית חירום</a:t>
            </a:r>
          </a:p>
          <a:p>
            <a:pPr algn="r" rtl="1">
              <a:spcBef>
                <a:spcPts val="500"/>
              </a:spcBef>
            </a:pPr>
            <a:r>
              <a:rPr sz="1100" b="1">
                <a:solidFill>
                  <a:srgbClr val="FB923C"/>
                </a:solidFill>
                <a:latin typeface="Arial"/>
              </a:rPr>
              <a:t>לאירועי ביטחון?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9844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9012"/>
            <a:ext cx="12188952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 i="0">
                <a:solidFill>
                  <a:srgbClr val="F59E0B"/>
                </a:solidFill>
                <a:latin typeface="Arial"/>
              </a:rPr>
              <a:t>שקופית   5 / 6  —  המלצה שניתן לבצע השבוע הבא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789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600" b="1" i="0">
                <a:solidFill>
                  <a:srgbClr val="F9FAFB"/>
                </a:solidFill>
                <a:latin typeface="Arial"/>
              </a:rPr>
              <a:t>גייסו שליחים ייעודיים לסוף שבוע</a:t>
            </a:r>
          </a:p>
        </p:txBody>
      </p:sp>
      <p:sp>
        <p:nvSpPr>
          <p:cNvPr id="7" name="Oval 6"/>
          <p:cNvSpPr/>
          <p:nvPr/>
        </p:nvSpPr>
        <p:spPr>
          <a:xfrm>
            <a:off x="256032" y="347472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347472"/>
            <a:ext cx="74980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11827"/>
                </a:solidFill>
                <a:latin typeface="Arial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889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91656"/>
            <a:ext cx="12188952" cy="466344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409944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900" b="0" i="0">
                <a:solidFill>
                  <a:srgbClr val="9CA3AF"/>
                </a:solidFill>
                <a:latin typeface="Arial"/>
              </a:rPr>
              <a:t>HAAT Delivery  ·  ניתוח נתונים 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994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Arial"/>
              </a:rPr>
              <a:t>6 / 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545336"/>
            <a:ext cx="7178040" cy="100584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545336"/>
            <a:ext cx="64008" cy="10058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8640" y="1792224"/>
            <a:ext cx="512064" cy="512064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792224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11827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1636776"/>
            <a:ext cx="6080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 i="0">
                <a:solidFill>
                  <a:srgbClr val="F9FAFB"/>
                </a:solidFill>
                <a:latin typeface="Arial"/>
              </a:rPr>
              <a:t>גייסו 20–30 שליחים ייעודיים לשישי + שבת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2075688"/>
            <a:ext cx="6080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9CA3AF"/>
                </a:solidFill>
                <a:latin typeface="Arial"/>
              </a:rPr>
              <a:t>באזורים 1, 4 ו-10 — ימות השיא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2670048"/>
            <a:ext cx="7178040" cy="100584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" y="2670048"/>
            <a:ext cx="64008" cy="100584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8640" y="2916936"/>
            <a:ext cx="512064" cy="512064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916936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11827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1872" y="2761488"/>
            <a:ext cx="6080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 i="0">
                <a:solidFill>
                  <a:srgbClr val="F9FAFB"/>
                </a:solidFill>
                <a:latin typeface="Arial"/>
              </a:rPr>
              <a:t>הציעו בונוס שיפט — +10% על כל מסירה בסוף שבוע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3200400"/>
            <a:ext cx="6080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9CA3AF"/>
                </a:solidFill>
                <a:latin typeface="Arial"/>
              </a:rPr>
              <a:t>עלות: ~₪2,000 | תמריץ אמיתי ומדיד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3794759"/>
            <a:ext cx="7178040" cy="100584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4048" y="3794759"/>
            <a:ext cx="64008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48640" y="4041648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041648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11827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1872" y="3886199"/>
            <a:ext cx="6080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 i="0">
                <a:solidFill>
                  <a:srgbClr val="F9FAFB"/>
                </a:solidFill>
                <a:latin typeface="Arial"/>
              </a:rPr>
              <a:t>הפעילו כבר השבת הקרובה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1872" y="4325112"/>
            <a:ext cx="6080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9CA3AF"/>
                </a:solidFill>
                <a:latin typeface="Arial"/>
              </a:rPr>
              <a:t>יש נתון Baseline ברור — ניתן למדוד מיד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" y="4919472"/>
            <a:ext cx="7178040" cy="100584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" y="4919472"/>
            <a:ext cx="64008" cy="100584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48640" y="5166360"/>
            <a:ext cx="512064" cy="512064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166360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11827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61872" y="5010912"/>
            <a:ext cx="6080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 i="0">
                <a:solidFill>
                  <a:srgbClr val="F9FAFB"/>
                </a:solidFill>
                <a:latin typeface="Arial"/>
              </a:rPr>
              <a:t>מדדו ודווחו — שיעור מסירה שבת לפני vs אחרי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61872" y="5449824"/>
            <a:ext cx="6080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9CA3AF"/>
                </a:solidFill>
                <a:latin typeface="Arial"/>
              </a:rPr>
              <a:t>ה-KPI פשוט, ברור ואין ויכוח על ההצלחה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63840" y="1545336"/>
            <a:ext cx="3977639" cy="4828032"/>
          </a:xfrm>
          <a:prstGeom prst="rect">
            <a:avLst/>
          </a:prstGeom>
          <a:solidFill>
            <a:srgbClr val="27354A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863840" y="1545336"/>
            <a:ext cx="64008" cy="48280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92440" y="170078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 i="0">
                <a:solidFill>
                  <a:srgbClr val="34D399"/>
                </a:solidFill>
                <a:latin typeface="Arial"/>
              </a:rPr>
              <a:t>ROI מחושב 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92440" y="2121408"/>
            <a:ext cx="3566160" cy="27432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92440" y="2231136"/>
            <a:ext cx="35661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500"/>
              </a:spcBef>
            </a:pPr>
            <a:r>
              <a:rPr sz="1400" b="1">
                <a:solidFill>
                  <a:srgbClr val="F9FAFB"/>
                </a:solidFill>
                <a:latin typeface="Arial"/>
              </a:rPr>
              <a:t>+5% מסירה בשבת =</a:t>
            </a:r>
          </a:p>
          <a:p>
            <a:pPr algn="r" rtl="1">
              <a:spcBef>
                <a:spcPts val="500"/>
              </a:spcBef>
            </a:pPr>
            <a:r>
              <a:rPr sz="1300" b="0">
                <a:solidFill>
                  <a:srgbClr val="9CA3AF"/>
                </a:solidFill>
                <a:latin typeface="Arial"/>
              </a:rPr>
              <a:t>~68 הזמנות נוספות</a:t>
            </a:r>
          </a:p>
          <a:p>
            <a:pPr algn="r" rtl="1">
              <a:spcBef>
                <a:spcPts val="500"/>
              </a:spcBef>
            </a:pPr>
            <a:r>
              <a:rPr sz="500" b="0">
                <a:solidFill>
                  <a:srgbClr val="F9FAFB"/>
                </a:solidFill>
                <a:latin typeface="Arial"/>
              </a:rPr>
              <a:t/>
            </a:r>
          </a:p>
          <a:p>
            <a:pPr algn="r" rtl="1">
              <a:spcBef>
                <a:spcPts val="500"/>
              </a:spcBef>
            </a:pPr>
            <a:r>
              <a:rPr sz="1400" b="1">
                <a:solidFill>
                  <a:srgbClr val="F9FAFB"/>
                </a:solidFill>
                <a:latin typeface="Arial"/>
              </a:rPr>
              <a:t>AOV ₪122.76 →</a:t>
            </a:r>
          </a:p>
          <a:p>
            <a:pPr algn="r" rtl="1">
              <a:spcBef>
                <a:spcPts val="500"/>
              </a:spcBef>
            </a:pPr>
            <a:r>
              <a:rPr sz="1300" b="0">
                <a:solidFill>
                  <a:srgbClr val="9CA3AF"/>
                </a:solidFill>
                <a:latin typeface="Arial"/>
              </a:rPr>
              <a:t>₪8,348 הכנסה נוספת</a:t>
            </a:r>
          </a:p>
          <a:p>
            <a:pPr algn="r" rtl="1">
              <a:spcBef>
                <a:spcPts val="500"/>
              </a:spcBef>
            </a:pPr>
            <a:r>
              <a:rPr sz="500" b="0">
                <a:solidFill>
                  <a:srgbClr val="F9FAFB"/>
                </a:solidFill>
                <a:latin typeface="Arial"/>
              </a:rPr>
              <a:t/>
            </a:r>
          </a:p>
          <a:p>
            <a:pPr algn="r" rtl="1">
              <a:spcBef>
                <a:spcPts val="500"/>
              </a:spcBef>
            </a:pPr>
            <a:r>
              <a:rPr sz="1300" b="0">
                <a:solidFill>
                  <a:srgbClr val="9CA3AF"/>
                </a:solidFill>
                <a:latin typeface="Arial"/>
              </a:rPr>
              <a:t>עלות בונוסים: ~₪2,000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63840" y="4791456"/>
            <a:ext cx="3977639" cy="158191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73568" y="4901184"/>
            <a:ext cx="374903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11827"/>
                </a:solidFill>
                <a:latin typeface="Arial"/>
              </a:rPr>
              <a:t>ROI × 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73568" y="55778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1" i="0">
                <a:solidFill>
                  <a:srgbClr val="111827"/>
                </a:solidFill>
                <a:latin typeface="Arial"/>
              </a:rPr>
              <a:t>מהשבת הראשונה 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9844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9012"/>
            <a:ext cx="12188952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0" i="0">
                <a:solidFill>
                  <a:srgbClr val="F59E0B"/>
                </a:solidFill>
                <a:latin typeface="Arial"/>
              </a:rPr>
              <a:t>שקופית   6 / 6  —  שאלה שלא נשאלה — אבל צריך לשאול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789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600" b="1" i="0">
                <a:solidFill>
                  <a:srgbClr val="F9FAFB"/>
                </a:solidFill>
                <a:latin typeface="Arial"/>
              </a:rPr>
              <a:t>מהו ה-LTV של לקוח חוזר לעומת לקוח חד-פעמי?</a:t>
            </a:r>
          </a:p>
        </p:txBody>
      </p:sp>
      <p:sp>
        <p:nvSpPr>
          <p:cNvPr id="7" name="Oval 6"/>
          <p:cNvSpPr/>
          <p:nvPr/>
        </p:nvSpPr>
        <p:spPr>
          <a:xfrm>
            <a:off x="256032" y="347472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" y="347472"/>
            <a:ext cx="74980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11827"/>
                </a:solidFill>
                <a:latin typeface="Arial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889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391656"/>
            <a:ext cx="12188952" cy="466344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409944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900" b="0" i="0">
                <a:solidFill>
                  <a:srgbClr val="9CA3AF"/>
                </a:solidFill>
                <a:latin typeface="Arial"/>
              </a:rPr>
              <a:t>HAAT Delivery  ·  ניתוח נתונים 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994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Arial"/>
              </a:rPr>
              <a:t>7 /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591056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 i="0">
                <a:solidFill>
                  <a:srgbClr val="60A5FA"/>
                </a:solidFill>
                <a:latin typeface="Arial"/>
              </a:rPr>
              <a:t>42.3%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191256"/>
            <a:ext cx="4937760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29183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600" b="1" i="0">
                <a:solidFill>
                  <a:srgbClr val="F9FAFB"/>
                </a:solidFill>
                <a:latin typeface="Arial"/>
              </a:rPr>
              <a:t>שיעור לקוחות חוזרים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7307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300" b="0" i="0">
                <a:solidFill>
                  <a:srgbClr val="9CA3AF"/>
                </a:solidFill>
                <a:latin typeface="Arial"/>
              </a:rPr>
              <a:t>מסך כלל הלקוחות בדאטאסט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242816"/>
            <a:ext cx="5486400" cy="2020824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242816"/>
            <a:ext cx="64008" cy="202082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407407"/>
            <a:ext cx="5138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50" b="1" i="0">
                <a:solidFill>
                  <a:srgbClr val="60A5FA"/>
                </a:solidFill>
                <a:latin typeface="Arial"/>
              </a:rPr>
              <a:t>מה שאנחנו לא יודעים: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4809744"/>
            <a:ext cx="5138928" cy="2286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937759"/>
            <a:ext cx="5138928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500"/>
              </a:spcBef>
            </a:pPr>
            <a:r>
              <a:rPr sz="1250" b="0">
                <a:solidFill>
                  <a:srgbClr val="F9FAFB"/>
                </a:solidFill>
                <a:latin typeface="Arial"/>
              </a:rPr>
              <a:t>→  האם לקוח חוזר שווה יותר כלכלית?</a:t>
            </a:r>
          </a:p>
          <a:p>
            <a:pPr algn="r" rtl="1">
              <a:spcBef>
                <a:spcPts val="500"/>
              </a:spcBef>
            </a:pPr>
            <a:r>
              <a:rPr sz="1250" b="0">
                <a:solidFill>
                  <a:srgbClr val="F9FAFB"/>
                </a:solidFill>
                <a:latin typeface="Arial"/>
              </a:rPr>
              <a:t>→  מה גורם ללקוח לחזור?</a:t>
            </a:r>
          </a:p>
          <a:p>
            <a:pPr algn="r" rtl="1">
              <a:spcBef>
                <a:spcPts val="500"/>
              </a:spcBef>
            </a:pPr>
            <a:r>
              <a:rPr sz="1250" b="0">
                <a:solidFill>
                  <a:srgbClr val="F9FAFB"/>
                </a:solidFill>
                <a:latin typeface="Arial"/>
              </a:rPr>
              <a:t>→  האם מסירה כושלת = לקוח שלא חוזר?</a:t>
            </a:r>
          </a:p>
          <a:p>
            <a:pPr algn="r" rtl="1">
              <a:spcBef>
                <a:spcPts val="500"/>
              </a:spcBef>
            </a:pPr>
            <a:r>
              <a:rPr sz="1250" b="0">
                <a:solidFill>
                  <a:srgbClr val="F9FAFB"/>
                </a:solidFill>
                <a:latin typeface="Arial"/>
              </a:rPr>
              <a:t>→  מהו ה-Churn Rate לפי אזור?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9632" y="1499616"/>
            <a:ext cx="5623560" cy="4782312"/>
          </a:xfrm>
          <a:prstGeom prst="rect">
            <a:avLst/>
          </a:prstGeom>
          <a:solidFill>
            <a:srgbClr val="27354A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1499616"/>
            <a:ext cx="64008" cy="47823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2" y="1664207"/>
            <a:ext cx="5276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50" b="1" i="0">
                <a:solidFill>
                  <a:srgbClr val="FCD34D"/>
                </a:solidFill>
                <a:latin typeface="Arial"/>
              </a:rPr>
              <a:t>למה זה קריטי: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28232" y="2066543"/>
            <a:ext cx="5276088" cy="2286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2" y="2194560"/>
            <a:ext cx="5276088" cy="3922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500"/>
              </a:spcBef>
            </a:pPr>
            <a:r>
              <a:rPr sz="1350" b="1">
                <a:solidFill>
                  <a:srgbClr val="F9FAFB"/>
                </a:solidFill>
                <a:latin typeface="Arial"/>
              </a:rPr>
              <a:t>עלות לקוח חדש גבוהה פי 5–7</a:t>
            </a:r>
          </a:p>
          <a:p>
            <a:pPr algn="r" rtl="1">
              <a:spcBef>
                <a:spcPts val="500"/>
              </a:spcBef>
            </a:pPr>
            <a:r>
              <a:rPr sz="1300" b="0">
                <a:solidFill>
                  <a:srgbClr val="9CA3AF"/>
                </a:solidFill>
                <a:latin typeface="Arial"/>
              </a:rPr>
              <a:t>מעלות שימור לקוח קיים</a:t>
            </a:r>
          </a:p>
          <a:p>
            <a:pPr algn="r" rtl="1">
              <a:spcBef>
                <a:spcPts val="500"/>
              </a:spcBef>
            </a:pPr>
            <a:r>
              <a:rPr sz="500" b="0">
                <a:solidFill>
                  <a:srgbClr val="F9FAFB"/>
                </a:solidFill>
                <a:latin typeface="Arial"/>
              </a:rPr>
              <a:t/>
            </a:r>
          </a:p>
          <a:p>
            <a:pPr algn="r" rtl="1">
              <a:spcBef>
                <a:spcPts val="500"/>
              </a:spcBef>
            </a:pPr>
            <a:r>
              <a:rPr sz="1350" b="1">
                <a:solidFill>
                  <a:srgbClr val="F87171"/>
                </a:solidFill>
                <a:latin typeface="Arial"/>
              </a:rPr>
              <a:t>אם מסירה כושלת = לקוח לא חוזר:</a:t>
            </a:r>
          </a:p>
          <a:p>
            <a:pPr algn="r" rtl="1">
              <a:spcBef>
                <a:spcPts val="500"/>
              </a:spcBef>
            </a:pPr>
            <a:r>
              <a:rPr sz="1300" b="0">
                <a:solidFill>
                  <a:srgbClr val="F9FAFB"/>
                </a:solidFill>
                <a:latin typeface="Arial"/>
              </a:rPr>
              <a:t>ה-ROI האמיתי של שיפור delivery rate</a:t>
            </a:r>
          </a:p>
          <a:p>
            <a:pPr algn="r" rtl="1">
              <a:spcBef>
                <a:spcPts val="500"/>
              </a:spcBef>
            </a:pPr>
            <a:r>
              <a:rPr sz="1300" b="0">
                <a:solidFill>
                  <a:srgbClr val="9CA3AF"/>
                </a:solidFill>
                <a:latin typeface="Arial"/>
              </a:rPr>
              <a:t>גבוה בהרבה ממה שחישבנו</a:t>
            </a:r>
          </a:p>
          <a:p>
            <a:pPr algn="r" rtl="1">
              <a:spcBef>
                <a:spcPts val="500"/>
              </a:spcBef>
            </a:pPr>
            <a:r>
              <a:rPr sz="500" b="0">
                <a:solidFill>
                  <a:srgbClr val="F9FAFB"/>
                </a:solidFill>
                <a:latin typeface="Arial"/>
              </a:rPr>
              <a:t/>
            </a:r>
          </a:p>
          <a:p>
            <a:pPr algn="r" rtl="1">
              <a:spcBef>
                <a:spcPts val="500"/>
              </a:spcBef>
            </a:pPr>
            <a:r>
              <a:rPr sz="1350" b="1">
                <a:solidFill>
                  <a:srgbClr val="FCD34D"/>
                </a:solidFill>
                <a:latin typeface="Arial"/>
              </a:rPr>
              <a:t>הנתון הנדרש:</a:t>
            </a:r>
          </a:p>
          <a:p>
            <a:pPr algn="r" rtl="1">
              <a:spcBef>
                <a:spcPts val="500"/>
              </a:spcBef>
            </a:pPr>
            <a:r>
              <a:rPr sz="1300" b="0">
                <a:solidFill>
                  <a:srgbClr val="F9FAFB"/>
                </a:solidFill>
                <a:latin typeface="Arial"/>
              </a:rPr>
              <a:t>Repeat Purchase Rate פר קוהורט</a:t>
            </a:r>
          </a:p>
          <a:p>
            <a:pPr algn="r" rtl="1">
              <a:spcBef>
                <a:spcPts val="500"/>
              </a:spcBef>
            </a:pPr>
            <a:r>
              <a:rPr sz="1250" b="0">
                <a:solidFill>
                  <a:srgbClr val="9CA3AF"/>
                </a:solidFill>
                <a:latin typeface="Arial"/>
              </a:rPr>
              <a:t>לפי אזור  ·  עסק  ·  שיטת תשלום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88952" cy="640080"/>
          </a:xfrm>
          <a:prstGeom prst="rect">
            <a:avLst/>
          </a:prstGeom>
          <a:solidFill>
            <a:srgbClr val="27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715000"/>
            <a:ext cx="121889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5751576"/>
            <a:ext cx="114574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50" b="1" i="1">
                <a:solidFill>
                  <a:srgbClr val="FCD34D"/>
                </a:solidFill>
                <a:latin typeface="Arial"/>
              </a:rPr>
              <a:t>❝  HAAT יושבת על ביקוש אמיתי. האתגר: לא לאבד 1 מכל 3 לקוחות בדרך. השליח הוא הנקודה — והוא גם ההזדמנות  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